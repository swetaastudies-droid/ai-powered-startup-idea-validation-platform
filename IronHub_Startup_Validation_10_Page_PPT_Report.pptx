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9728" cy="1051560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7" y="758952"/>
            <a:ext cx="109728" cy="1051560"/>
          </a:xfrm>
          <a:prstGeom prst="rect">
            <a:avLst/>
          </a:prstGeom>
          <a:solidFill>
            <a:srgbClr val="2D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5" y="832104"/>
            <a:ext cx="109728" cy="1051560"/>
          </a:xfrm>
          <a:prstGeom prst="rect">
            <a:avLst/>
          </a:prstGeom>
          <a:solidFill>
            <a:srgbClr val="DC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05156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AI-Powered Startup Idea</a:t>
            </a:r>
            <a:br/>
            <a:r>
              <a:t>Validation Platform</a:t>
            </a:r>
          </a:p>
          <a:p>
            <a:pPr>
              <a:defRPr sz="1900">
                <a:solidFill>
                  <a:srgbClr val="CDDCEE"/>
                </a:solidFill>
              </a:defRPr>
            </a:pPr>
            <a:r>
              <a:t>A Startup Validation Study of IronHub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154680"/>
            <a:ext cx="306324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154680"/>
            <a:ext cx="64008" cy="1234440"/>
          </a:xfrm>
          <a:prstGeom prst="rect">
            <a:avLst/>
          </a:prstGeom>
          <a:solidFill>
            <a:srgbClr val="2D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3291840"/>
            <a:ext cx="2697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STARTUP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IronHub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Doorstep ironing &amp; garment 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154680"/>
            <a:ext cx="306324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3154680"/>
            <a:ext cx="64008" cy="1234440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3291840"/>
            <a:ext cx="2697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VALIDATION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4 Dimensions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Market • Customer • Competition • Finance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154680"/>
            <a:ext cx="306324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3154680"/>
            <a:ext cx="64008" cy="1234440"/>
          </a:xfrm>
          <a:prstGeom prst="rect">
            <a:avLst/>
          </a:prstGeom>
          <a:solidFill>
            <a:srgbClr val="DC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9288" y="3291840"/>
            <a:ext cx="2697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PLATFORM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Streamlit + ML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Random Forest + financial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9834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Final Project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5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2881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D2DCE6"/>
                </a:solidFill>
              </a:defRPr>
            </a:pPr>
            <a:r>
              <a:t>IronHub | AI-Powered Startup Idea Validation Platform   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Purpose, startup context and validation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417320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63039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PROBLEM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Startup uncertainty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Demand, competition, pricing and financial sustainability.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64008" cy="1417320"/>
          </a:xfrm>
          <a:prstGeom prst="rect">
            <a:avLst/>
          </a:prstGeom>
          <a:solidFill>
            <a:srgbClr val="2D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63039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SOLUTION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Structured validation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Convert founder assumptions into measurable indicators.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325880"/>
            <a:ext cx="64008" cy="1417320"/>
          </a:xfrm>
          <a:prstGeom prst="rect">
            <a:avLst/>
          </a:prstGeom>
          <a:solidFill>
            <a:srgbClr val="DC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463039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OUTPUT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Decision support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Highlight supported and uncertain assumptions.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6400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Validate IronHub's market demand and customer acceptance.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Assess competitive positioning and proposed pricing.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Evaluate revenue model, unit economics and financial sensitivity.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Demonstrate AI/ML-assisted startup validation through a working prototype.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246120"/>
            <a:ext cx="1463040" cy="749808"/>
          </a:xfrm>
          <a:prstGeom prst="round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Market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19" y="3246120"/>
            <a:ext cx="1463040" cy="749808"/>
          </a:xfrm>
          <a:prstGeom prst="roundRect">
            <a:avLst/>
          </a:prstGeom>
          <a:solidFill>
            <a:srgbClr val="2D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Customer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4297679"/>
            <a:ext cx="1463040" cy="749808"/>
          </a:xfrm>
          <a:prstGeom prst="roundRect">
            <a:avLst/>
          </a:prstGeom>
          <a:solidFill>
            <a:srgbClr val="DC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Competition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19" y="4297679"/>
            <a:ext cx="1463040" cy="749808"/>
          </a:xfrm>
          <a:prstGeom prst="roundRect">
            <a:avLst/>
          </a:prstGeom>
          <a:solidFill>
            <a:srgbClr val="23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2881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IronHub | AI-Powered Startup Idea Validation Platform  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</a:defRPr>
            </a:pPr>
            <a:r>
              <a:t>2. IronHub Business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Proposed Chennai-based doorstep ironing and garment care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290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64008" cy="1097280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17319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VALUE PROPOSITION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Convenience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Doorstep pickup and delivery with fast turnaround.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280160"/>
            <a:ext cx="34290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280160"/>
            <a:ext cx="64008" cy="1097280"/>
          </a:xfrm>
          <a:prstGeom prst="rect">
            <a:avLst/>
          </a:prstGeom>
          <a:solidFill>
            <a:srgbClr val="2D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OPERATING MODEL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Vendor Partnership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IronHub coordinates customer-facing pickup/delivery.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280160"/>
            <a:ext cx="34290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1583" y="1280160"/>
            <a:ext cx="64008" cy="1097280"/>
          </a:xfrm>
          <a:prstGeom prst="rect">
            <a:avLst/>
          </a:prstGeom>
          <a:solidFill>
            <a:srgbClr val="DC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417319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DIFFERENTIATION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Fast &amp; Local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Proposed six-hour turnaround and transparent pricing.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33A"/>
                </a:solidFill>
              </a:defRPr>
            </a:pPr>
            <a:r>
              <a:t>Proposed Service Pricing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46120"/>
            <a:ext cx="3566160" cy="347472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273551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Office formal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73551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666B4"/>
                </a:solidFill>
              </a:defRPr>
            </a:pPr>
            <a:r>
              <a:t>₹25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21608"/>
            <a:ext cx="3566160" cy="347472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490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School/college uniform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490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666B4"/>
                </a:solidFill>
              </a:defRPr>
            </a:pPr>
            <a:r>
              <a:t>₹25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97096"/>
            <a:ext cx="3566160" cy="347472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2452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Saree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224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666B4"/>
                </a:solidFill>
              </a:defRPr>
            </a:pPr>
            <a:r>
              <a:t>₹40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672583"/>
            <a:ext cx="3566160" cy="347472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700016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Blazer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7000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666B4"/>
                </a:solidFill>
              </a:defRPr>
            </a:pPr>
            <a:r>
              <a:t>₹40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148072"/>
            <a:ext cx="3566160" cy="347472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17550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General clothes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175504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666B4"/>
                </a:solidFill>
              </a:defRPr>
            </a:pPr>
            <a:r>
              <a:t>₹13/item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2880360"/>
            <a:ext cx="6126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Online booking and scheduled pickup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Proposed turnaround: within 6 hours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35% proposed IronHub commission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Orders below ₹100: ₹10 delivery charge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2881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IronHub | AI-Powered Startup Idea Validation Platform  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</a:defRPr>
            </a:pPr>
            <a:r>
              <a:t>3. Research &amp; Customer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Primary survey + secondary market and competitor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2860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143000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7160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SURVEY SAMPLE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25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Customer respondents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234440"/>
            <a:ext cx="22860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54680" y="1234440"/>
            <a:ext cx="64008" cy="1143000"/>
          </a:xfrm>
          <a:prstGeom prst="rect">
            <a:avLst/>
          </a:prstGeom>
          <a:solidFill>
            <a:srgbClr val="2D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37160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DOORSTEP USEFULNESS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4.8 / 5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Average rating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234440"/>
            <a:ext cx="22860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23560" y="1234440"/>
            <a:ext cx="64008" cy="1143000"/>
          </a:xfrm>
          <a:prstGeom prst="rect">
            <a:avLst/>
          </a:prstGeom>
          <a:solidFill>
            <a:srgbClr val="23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4728" y="137160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&lt; 6-HOUR INTENT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100%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Likely / very likely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2004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64008" cy="1143000"/>
          </a:xfrm>
          <a:prstGeom prst="rect">
            <a:avLst/>
          </a:prstGeom>
          <a:solidFill>
            <a:srgbClr val="DC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371600"/>
            <a:ext cx="2834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FUTURE TRIAL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100%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Likely / very likely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33A"/>
                </a:solidFill>
              </a:defRPr>
            </a:pPr>
            <a:r>
              <a:t>Top Customer Difficulties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461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/>
            </a:pPr>
            <a:r>
              <a:t>Quality concerns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3291839"/>
            <a:ext cx="2468880" cy="16459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3291839"/>
            <a:ext cx="2304288" cy="164592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32278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28%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49039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/>
            </a:pPr>
            <a:r>
              <a:t>Lack of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3794759"/>
            <a:ext cx="2468880" cy="16459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3794759"/>
            <a:ext cx="2304288" cy="164592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37307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28%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519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/>
            </a:pPr>
            <a:r>
              <a:t>Waiting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4297680"/>
            <a:ext cx="2468880" cy="16459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4297680"/>
            <a:ext cx="1975104" cy="164592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4233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24%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7548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/>
            </a:pPr>
            <a:r>
              <a:t>Travel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4800600"/>
            <a:ext cx="2468880" cy="16459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31720" y="4800600"/>
            <a:ext cx="1975104" cy="164592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47365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2578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/>
            </a:pPr>
            <a:r>
              <a:t>Damage/staining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31720" y="5303520"/>
            <a:ext cx="2468880" cy="16459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31720" y="5303520"/>
            <a:ext cx="1645920" cy="164592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5239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278892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• 16/25 respondents iron weekly or more.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• Current doorstep users: 2/25.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• Survey evidence reflects stated intent, not actual purchases.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• ₹13 lies in the largest ₹10–₹14 shirt-price preference band, but pricing still needs validation.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52881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IronHub | AI-Powered Startup Idea Validation Platform  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</a:defRPr>
            </a:pPr>
            <a:r>
              <a:t>4. Market &amp; 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Market opportunity, search-interest signals and competitor positioning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832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234440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7160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INDIA MARKET REFERENCE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USD 2.9B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IMARC 2026 reference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234440"/>
          </a:xfrm>
          <a:prstGeom prst="rect">
            <a:avLst/>
          </a:prstGeom>
          <a:solidFill>
            <a:srgbClr val="2D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7160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CHENNAI HOUSEHOLDS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1,142,121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Normal households, 2011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3832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234440"/>
            <a:ext cx="64008" cy="1234440"/>
          </a:xfrm>
          <a:prstGeom prst="rect">
            <a:avLst/>
          </a:prstGeom>
          <a:solidFill>
            <a:srgbClr val="DC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37160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COMPETITORS STUDIED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6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Publicly available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LaundryBus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Presso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Wash &amp; Dry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The Salavai Laundry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Elite Cleaners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Madras Ironing Company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26080"/>
            <a:ext cx="6766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Compared pricing, pickup/delivery, turnaround and booking.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Publicly unspecified features were recorded as “Not specified”.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Google Trends showed increasing relative search interest for several relevant terms.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Market sources use different definitions; values were not combined indiscriminately.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2881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IronHub | AI-Powered Startup Idea Validation Platform  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</a:defRPr>
            </a:pPr>
            <a:r>
              <a:t>5. TAM–SAM–SOM &amp; 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Proposed market base and operating scenario</a:t>
            </a:r>
          </a:p>
        </p:txBody>
      </p:sp>
      <p:sp>
        <p:nvSpPr>
          <p:cNvPr id="5" name="Trapezoid 4"/>
          <p:cNvSpPr/>
          <p:nvPr/>
        </p:nvSpPr>
        <p:spPr>
          <a:xfrm>
            <a:off x="822960" y="1417320"/>
            <a:ext cx="3200400" cy="822960"/>
          </a:xfrm>
          <a:prstGeom prst="trapezoid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TAM | USD 2.9B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2704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India laundry market</a:t>
            </a:r>
          </a:p>
        </p:txBody>
      </p:sp>
      <p:sp>
        <p:nvSpPr>
          <p:cNvPr id="7" name="Trapezoid 6"/>
          <p:cNvSpPr/>
          <p:nvPr/>
        </p:nvSpPr>
        <p:spPr>
          <a:xfrm>
            <a:off x="1325880" y="2423160"/>
            <a:ext cx="2560320" cy="822960"/>
          </a:xfrm>
          <a:prstGeom prst="trapezoid">
            <a:avLst/>
          </a:prstGeom>
          <a:solidFill>
            <a:srgbClr val="2D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SAM | 1,142,121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53288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Chennai normal households</a:t>
            </a:r>
          </a:p>
        </p:txBody>
      </p:sp>
      <p:sp>
        <p:nvSpPr>
          <p:cNvPr id="9" name="Trapezoid 8"/>
          <p:cNvSpPr/>
          <p:nvPr/>
        </p:nvSpPr>
        <p:spPr>
          <a:xfrm>
            <a:off x="1783080" y="3429000"/>
            <a:ext cx="1920240" cy="822960"/>
          </a:xfrm>
          <a:prstGeom prst="trapezoid">
            <a:avLst/>
          </a:prstGeom>
          <a:solidFill>
            <a:srgbClr val="DC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SOM | ₹43.2L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53872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Proposed annual transaction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120 proposed orders/day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3,600 proposed monthly orders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43,200 proposed annual orders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₹100 proposed AOV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35% proposed commission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₹15.12 lakh proposed annual IronHub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00600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4141"/>
                </a:solidFill>
              </a:defRPr>
            </a:pPr>
            <a:r>
              <a:t>SOM is a proposed operating scenario — not validated market share.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2881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IronHub | AI-Powered Startup Idea Validation Platform  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</a:defRPr>
            </a:pPr>
            <a:r>
              <a:t>6. Financial Feasibility &amp;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Unit economics, capital requirement and scenario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5603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143000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716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BASE MONTHLY COMMISSION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₹1.26L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3,600 orders × ₹35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5603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234440"/>
            <a:ext cx="64008" cy="1143000"/>
          </a:xfrm>
          <a:prstGeom prst="rect">
            <a:avLst/>
          </a:prstGeom>
          <a:solidFill>
            <a:srgbClr val="2D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13716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LISTED EXPENSES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₹1.23L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Staff + charging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25603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64008" cy="1143000"/>
          </a:xfrm>
          <a:prstGeom prst="rect">
            <a:avLst/>
          </a:prstGeom>
          <a:solidFill>
            <a:srgbClr val="23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3716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BASE PROFIT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₹3,000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Highly volume-sensitive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234440"/>
            <a:ext cx="22860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0" y="1234440"/>
            <a:ext cx="64008" cy="1143000"/>
          </a:xfrm>
          <a:prstGeom prst="rect">
            <a:avLst/>
          </a:prstGeom>
          <a:solidFill>
            <a:srgbClr val="DC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137160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CAPITAL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₹15L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Proposed initial allocation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33A"/>
                </a:solidFill>
              </a:defRPr>
            </a:pPr>
            <a:r>
              <a:t>Sensitivity: Monthly Profit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461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/>
            </a:pPr>
            <a:r>
              <a:t>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3291839"/>
            <a:ext cx="2926080" cy="164592"/>
          </a:xfrm>
          <a:prstGeom prst="rect">
            <a:avLst/>
          </a:prstGeom>
          <a:solidFill>
            <a:srgbClr val="E6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-845819" y="3291839"/>
            <a:ext cx="2674620" cy="164592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32278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₹-39,000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49039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/>
            </a:pPr>
            <a:r>
              <a:t>Moderate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3794759"/>
            <a:ext cx="2926080" cy="164592"/>
          </a:xfrm>
          <a:prstGeom prst="rect">
            <a:avLst/>
          </a:prstGeom>
          <a:solidFill>
            <a:srgbClr val="E6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59" y="3794759"/>
            <a:ext cx="1234440" cy="164592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37307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₹-18,000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519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/>
            </a:pPr>
            <a:r>
              <a:t>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297680"/>
            <a:ext cx="2926080" cy="164592"/>
          </a:xfrm>
          <a:prstGeom prst="rect">
            <a:avLst/>
          </a:prstGeom>
          <a:solidFill>
            <a:srgbClr val="E6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0" y="4297680"/>
            <a:ext cx="205739" cy="164592"/>
          </a:xfrm>
          <a:prstGeom prst="rect">
            <a:avLst/>
          </a:prstGeom>
          <a:solidFill>
            <a:srgbClr val="23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42336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₹3,000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7548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/>
            </a:pPr>
            <a:r>
              <a:t>Higher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4800600"/>
            <a:ext cx="2926080" cy="164592"/>
          </a:xfrm>
          <a:prstGeom prst="rect">
            <a:avLst/>
          </a:prstGeom>
          <a:solidFill>
            <a:srgbClr val="E6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4800600"/>
            <a:ext cx="1645919" cy="164592"/>
          </a:xfrm>
          <a:prstGeom prst="rect">
            <a:avLst/>
          </a:prstGeom>
          <a:solidFill>
            <a:srgbClr val="23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47365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₹24,000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257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/>
            </a:pPr>
            <a:r>
              <a:t>Higher AOV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0" y="5303520"/>
            <a:ext cx="2926080" cy="164592"/>
          </a:xfrm>
          <a:prstGeom prst="rect">
            <a:avLst/>
          </a:prstGeom>
          <a:solidFill>
            <a:srgbClr val="E6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8800" y="5303520"/>
            <a:ext cx="2366010" cy="164592"/>
          </a:xfrm>
          <a:prstGeom prst="rect">
            <a:avLst/>
          </a:prstGeom>
          <a:solidFill>
            <a:srgbClr val="23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52395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₹34,500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8346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Low and moderate volume scenarios are negative.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Base scenario is only ₹3,000 monthly profit.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Higher volume/AOV materially improves profitability.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Financial values are projections based on assumptions.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52881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IronHub | AI-Powered Startup Idea Validation Platform  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</a:defRPr>
            </a:pPr>
            <a:r>
              <a:t>7. AI / Machine Learning &amp; Streamlit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Prototype architecture and application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331720" cy="1325880"/>
          </a:xfrm>
          <a:prstGeom prst="round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Inputs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Market • Customer</a:t>
            </a:r>
            <a:br/>
            <a:r>
              <a:t>Competition • Profit</a:t>
            </a:r>
          </a:p>
        </p:txBody>
      </p:sp>
      <p:sp>
        <p:nvSpPr>
          <p:cNvPr id="6" name="Chevron 5"/>
          <p:cNvSpPr/>
          <p:nvPr/>
        </p:nvSpPr>
        <p:spPr>
          <a:xfrm>
            <a:off x="2990088" y="1938528"/>
            <a:ext cx="347472" cy="45720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47288" y="1508760"/>
            <a:ext cx="2331720" cy="1325880"/>
          </a:xfrm>
          <a:prstGeom prst="roundRect">
            <a:avLst/>
          </a:prstGeom>
          <a:solidFill>
            <a:srgbClr val="2D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Random Forest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Validation</a:t>
            </a:r>
            <a:br/>
            <a:r>
              <a:t>Prediction</a:t>
            </a:r>
          </a:p>
        </p:txBody>
      </p:sp>
      <p:sp>
        <p:nvSpPr>
          <p:cNvPr id="8" name="Chevron 7"/>
          <p:cNvSpPr/>
          <p:nvPr/>
        </p:nvSpPr>
        <p:spPr>
          <a:xfrm>
            <a:off x="5843016" y="1938528"/>
            <a:ext cx="347472" cy="45720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0216" y="1508760"/>
            <a:ext cx="2331720" cy="1325880"/>
          </a:xfrm>
          <a:prstGeom prst="roundRect">
            <a:avLst/>
          </a:prstGeom>
          <a:solidFill>
            <a:srgbClr val="DC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Financial Engine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NPV • ROI</a:t>
            </a:r>
            <a:br/>
            <a:r>
              <a:t>Cash Flow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1938528"/>
            <a:ext cx="347472" cy="457200"/>
          </a:xfrm>
          <a:prstGeom prst="chevron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53144" y="1508760"/>
            <a:ext cx="2331720" cy="1325880"/>
          </a:xfrm>
          <a:prstGeom prst="roundRect">
            <a:avLst/>
          </a:prstGeom>
          <a:solidFill>
            <a:srgbClr val="23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Feedback Assistant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Structured</a:t>
            </a:r>
            <a:br/>
            <a:r>
              <a:t>Idea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10241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Random Forest prototype uses Market Size, Customer Interest, Competition Level and Profit Margin.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Demonstration dataset: predictions are not proof of startup success.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Streamlit dashboard includes Idea Validation, Financial Projection and Idea Feedback Assistant.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Financial module calculates NPV, ROI and projected cash flows.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2881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IronHub | AI-Powered Startup Idea Validation Platform  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A"/>
                </a:solidFill>
              </a:defRPr>
            </a:pPr>
            <a:r>
              <a:t>8. Testing, Findings &amp; Validation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What the project supports — and what still needs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832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143000"/>
          </a:xfrm>
          <a:prstGeom prst="rect">
            <a:avLst/>
          </a:prstGeom>
          <a:solidFill>
            <a:srgbClr val="26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7160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CUSTOMER SIGNAL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Strong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Doorstep and fast-service stated intent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143000"/>
          </a:xfrm>
          <a:prstGeom prst="rect">
            <a:avLst/>
          </a:prstGeom>
          <a:solidFill>
            <a:srgbClr val="2D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7160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COMPETITIVE SIGNAL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Preliminary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Differentiation opportunity identified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3832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234440"/>
            <a:ext cx="64008" cy="1143000"/>
          </a:xfrm>
          <a:prstGeom prst="rect">
            <a:avLst/>
          </a:prstGeom>
          <a:solidFill>
            <a:srgbClr val="DC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37160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</a:defRPr>
            </a:pPr>
            <a:r>
              <a:t>FINANCIAL SIGNAL</a:t>
            </a:r>
          </a:p>
          <a:p>
            <a:pPr>
              <a:defRPr sz="2300" b="1">
                <a:solidFill>
                  <a:srgbClr val="16233A"/>
                </a:solidFill>
              </a:defRPr>
            </a:pPr>
            <a:r>
              <a:t>Sensitive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Base case has limited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33A"/>
                </a:solidFill>
              </a:defRPr>
            </a:pPr>
            <a:r>
              <a:t>Validation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2724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/>
            </a:pPr>
            <a:r>
              <a:t>Customer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12724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1">
                <a:solidFill>
                  <a:srgbClr val="238255"/>
                </a:solidFill>
              </a:defRPr>
            </a:pPr>
            <a:r>
              <a:t>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9300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/>
            </a:pPr>
            <a:r>
              <a:t>Doorstep service interest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49300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1">
                <a:solidFill>
                  <a:srgbClr val="238255"/>
                </a:solidFill>
              </a:defRPr>
            </a:pPr>
            <a:r>
              <a:t>Supported – stated 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5876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/>
            </a:pPr>
            <a:r>
              <a:t>Fast turnaround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85876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1">
                <a:solidFill>
                  <a:srgbClr val="DCA02D"/>
                </a:solidFill>
              </a:defRPr>
            </a:pPr>
            <a:r>
              <a:t>Partially 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2452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/>
            </a:pPr>
            <a:r>
              <a:t>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22452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1">
                <a:solidFill>
                  <a:srgbClr val="DCA02D"/>
                </a:solidFill>
              </a:defRPr>
            </a:pPr>
            <a:r>
              <a:t>Needs further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9028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/>
            </a:pPr>
            <a:r>
              <a:t>120 orders/day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59028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1">
                <a:solidFill>
                  <a:srgbClr val="DCA02D"/>
                </a:solidFill>
              </a:defRPr>
            </a:pPr>
            <a:r>
              <a:t>Needs further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5604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/>
            </a:pPr>
            <a:r>
              <a:t>₹100 AOV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95604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1">
                <a:solidFill>
                  <a:srgbClr val="DCA02D"/>
                </a:solidFill>
              </a:defRPr>
            </a:pPr>
            <a:r>
              <a:t>Needs further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2180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/>
            </a:pPr>
            <a:r>
              <a:t>35% commission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532180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1">
                <a:solidFill>
                  <a:srgbClr val="DCA02D"/>
                </a:solidFill>
              </a:defRPr>
            </a:pPr>
            <a:r>
              <a:t>Needs further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8756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/>
            </a:pPr>
            <a:r>
              <a:t>₹15L capital sufficiency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68756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1">
                <a:solidFill>
                  <a:srgbClr val="DCA02D"/>
                </a:solidFill>
              </a:defRPr>
            </a:pPr>
            <a:r>
              <a:t>Needs further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880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The platform was functionally tested across validation, financial and feedback modules.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The project distinguishes evidence from assumptions rather than forcing a positive conclusion.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• Overall conclusion: PROMISING INITIAL VALIDATION — FURTHER REAL-WORLD TESTING REQUIRED.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52881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IronHub | AI-Powered Startup Idea Validation Platform  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9.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IronHub has promising initial validation signals, but it is not yet fully validated.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5166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Customer research supports the underlying convenience problem and strong stated interest.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Market and competitor analysis provide preliminary evidence of a relevant service opportunity.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Financial analysis shows strong sensitivity to order volume and average order value.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The Streamlit platform demonstrates how AI, analytics and financial tools can support entrepreneurial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3200"/>
            <a:ext cx="4892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Increase customer sample and run pilot orders.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Measure actual conversion and repeat purchases.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Validate AOV, vendor economics and 35% commission.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Expand financial modelling and train ML on larger real-world datasets.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Deploy with authorized live data 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CDDCEE"/>
                </a:solidFill>
              </a:defRPr>
            </a:pPr>
            <a:r>
              <a:t>IronHub | Data-driven startup validation through business analytics, AI and financial modelling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5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D2DCE6"/>
                </a:solidFill>
              </a:defRPr>
            </a:pPr>
            <a:r>
              <a:t>IronHub | AI-Powered Startup Idea Validation Platform  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